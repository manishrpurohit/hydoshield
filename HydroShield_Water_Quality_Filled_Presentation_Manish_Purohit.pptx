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6675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6387"/>
                </a:solidFill>
                <a:latin typeface="Aptos"/>
              </a:defRPr>
            </a:pPr>
            <a:r>
              <a:t>OPTIMIZED MACHINE LEARNING</a:t>
            </a:r>
            <a:br/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A7B8"/>
                </a:solidFill>
                <a:latin typeface="Aptos"/>
              </a:defRPr>
            </a:pPr>
            <a:r>
              <a:t>HydroShield – Water Safety Classification Screening</a:t>
            </a:r>
          </a:p>
        </p:txBody>
      </p:sp>
      <p:pic>
        <p:nvPicPr>
          <p:cNvPr id="6" name="Picture 5" descr="intro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078992"/>
            <a:ext cx="3886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794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B76"/>
                </a:solidFill>
                <a:latin typeface="Aptos"/>
              </a:defRPr>
            </a:pPr>
            <a:r>
              <a:t>Presented by: Manish Purohit</a:t>
            </a:r>
            <a:br/>
            <a:r>
              <a:t>Guided by: Ritik Raj Vaishya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Presenter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Environmental 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Data Scientist focused on environmental machine learning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HydroShield screens water samples using contaminant values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Goal: fast, data-driven support for water-quality monitoring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Final safety decisions still require laboratory and expert review</a:t>
            </a:r>
          </a:p>
        </p:txBody>
      </p:sp>
      <p:pic>
        <p:nvPicPr>
          <p:cNvPr id="7" name="Picture 6" descr="intro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08760"/>
            <a:ext cx="4800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Water contamination, machine learning and safety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063240" cy="3063240"/>
          </a:xfrm>
          <a:prstGeom prst="roundRect">
            <a:avLst/>
          </a:prstGeom>
          <a:solidFill>
            <a:srgbClr val="F5FAFC"/>
          </a:solidFill>
          <a:ln>
            <a:solidFill>
              <a:srgbClr val="E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6C4D"/>
                </a:solidFill>
                <a:latin typeface="Aptos"/>
              </a:defRPr>
            </a:pPr>
            <a:r>
              <a:t>Water contamination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3B4F"/>
                </a:solidFill>
                <a:latin typeface="Aptos"/>
              </a:defRPr>
            </a:pPr>
            <a:r>
              <a:t>Cadmium and arsenic can create serious health risks. Continuous monitoring is important.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063240" cy="3063240"/>
          </a:xfrm>
          <a:prstGeom prst="roundRect">
            <a:avLst/>
          </a:prstGeom>
          <a:solidFill>
            <a:srgbClr val="F5FAFC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A7B8"/>
                </a:solidFill>
                <a:latin typeface="Aptos"/>
              </a:defRPr>
            </a:pPr>
            <a:r>
              <a:t>ML in hydrology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3B4F"/>
                </a:solidFill>
                <a:latin typeface="Aptos"/>
              </a:defRPr>
            </a:pPr>
            <a:r>
              <a:t>Ensemble models such as Random Forest and XGBoost perform well on structured water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00200"/>
            <a:ext cx="3063240" cy="3063240"/>
          </a:xfrm>
          <a:prstGeom prst="roundRect">
            <a:avLst/>
          </a:prstGeom>
          <a:solidFill>
            <a:srgbClr val="F5FAFC"/>
          </a:solidFill>
          <a:ln>
            <a:solidFill>
              <a:srgbClr val="0E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87451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6387"/>
                </a:solidFill>
                <a:latin typeface="Aptos"/>
              </a:defRPr>
            </a:pPr>
            <a:r>
              <a:t>Feature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6888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3B4F"/>
                </a:solidFill>
                <a:latin typeface="Aptos"/>
              </a:defRPr>
            </a:pPr>
            <a:r>
              <a:t>Important predictors can reduce screening cost while maintaining useful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389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26B76"/>
                </a:solidFill>
                <a:latin typeface="Aptos"/>
              </a:defRPr>
            </a:pPr>
            <a:r>
              <a:t>Safety predictions should be checked against applicable WHO/EPA and local water-quality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Methodology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End-to-end machine learning pipeline</a:t>
            </a:r>
          </a:p>
        </p:txBody>
      </p:sp>
      <p:pic>
        <p:nvPicPr>
          <p:cNvPr id="6" name="Picture 5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069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43B4F"/>
                </a:solidFill>
              </a:defRPr>
            </a:pPr>
            <a:r>
              <a:t>• Exploration: distribution checks, outlier review and feature analysis</a:t>
            </a:r>
          </a:p>
          <a:p>
            <a:pPr>
              <a:spcAft>
                <a:spcPts val="1300"/>
              </a:spcAft>
              <a:defRPr sz="1400">
                <a:solidFill>
                  <a:srgbClr val="143B4F"/>
                </a:solidFill>
              </a:defRPr>
            </a:pPr>
            <a:r>
              <a:t>• Preprocessing: stratified 80:20 split and StandardScaler</a:t>
            </a:r>
          </a:p>
          <a:p>
            <a:pPr>
              <a:spcAft>
                <a:spcPts val="1300"/>
              </a:spcAft>
              <a:defRPr sz="1400">
                <a:solidFill>
                  <a:srgbClr val="143B4F"/>
                </a:solidFill>
              </a:defRPr>
            </a:pPr>
            <a:r>
              <a:t>• Training: baseline and tuned XGBoost, plus Random Forest</a:t>
            </a:r>
          </a:p>
          <a:p>
            <a:pPr>
              <a:spcAft>
                <a:spcPts val="1300"/>
              </a:spcAft>
              <a:defRPr sz="1400">
                <a:solidFill>
                  <a:srgbClr val="143B4F"/>
                </a:solidFill>
              </a:defRPr>
            </a:pPr>
            <a:r>
              <a:t>• Evaluation: accuracy, precision, recall, F1-score and ROC-AUC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Modeling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Handling imbalance and optimizing the classifier</a:t>
            </a:r>
          </a:p>
        </p:txBody>
      </p:sp>
      <p:pic>
        <p:nvPicPr>
          <p:cNvPr id="6" name="Picture 5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30352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5087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Data split: 80% training, 20% testing with stratification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Dataset imbalance: 88.6% not safe and 11.4% safe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Scaling: StandardScaler normalizes feature ranges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Optimization: GridSearchCV selects settings using ROC-AUC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Model Inputs: Top Chemical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Twenty chemical and biological measurements are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84632"/>
          </a:xfrm>
          <a:prstGeom prst="roundRect">
            <a:avLst/>
          </a:prstGeom>
          <a:solidFill>
            <a:srgbClr val="F1F8FA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B4F"/>
                </a:solidFill>
                <a:latin typeface="Aptos"/>
              </a:defRPr>
            </a:pPr>
            <a:r>
              <a:t>Cadmium (Cd)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08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A7B8"/>
                </a:solidFill>
                <a:latin typeface="Aptos"/>
              </a:defRPr>
            </a:pPr>
            <a:r>
              <a:t>0.005 mg/L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93976"/>
            <a:ext cx="5120640" cy="484632"/>
          </a:xfrm>
          <a:prstGeom prst="roundRect">
            <a:avLst/>
          </a:prstGeom>
          <a:solidFill>
            <a:srgbClr val="F1F8FA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854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B4F"/>
                </a:solidFill>
                <a:latin typeface="Aptos"/>
              </a:defRPr>
            </a:pPr>
            <a:r>
              <a:t>Aluminium (Al)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854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A7B8"/>
                </a:solidFill>
                <a:latin typeface="Aptos"/>
              </a:defRPr>
            </a:pPr>
            <a:r>
              <a:t>0.20 mg/L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70632"/>
            <a:ext cx="5120640" cy="484632"/>
          </a:xfrm>
          <a:prstGeom prst="roundRect">
            <a:avLst/>
          </a:prstGeom>
          <a:solidFill>
            <a:srgbClr val="F1F8FA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620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B4F"/>
                </a:solidFill>
                <a:latin typeface="Aptos"/>
              </a:defRPr>
            </a:pPr>
            <a:r>
              <a:t>Silver (Ag)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620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A7B8"/>
                </a:solidFill>
                <a:latin typeface="Aptos"/>
              </a:defRPr>
            </a:pPr>
            <a:r>
              <a:t>0.10 mg/L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47287"/>
            <a:ext cx="5120640" cy="484632"/>
          </a:xfrm>
          <a:prstGeom prst="roundRect">
            <a:avLst/>
          </a:prstGeom>
          <a:solidFill>
            <a:srgbClr val="F1F8FA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7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B4F"/>
                </a:solidFill>
                <a:latin typeface="Aptos"/>
              </a:defRPr>
            </a:pPr>
            <a:r>
              <a:t>Perchlorate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3872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A7B8"/>
                </a:solidFill>
                <a:latin typeface="Aptos"/>
              </a:defRPr>
            </a:pPr>
            <a:r>
              <a:t>15.0 μg/L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23944"/>
            <a:ext cx="5120640" cy="484632"/>
          </a:xfrm>
          <a:prstGeom prst="roundRect">
            <a:avLst/>
          </a:prstGeom>
          <a:solidFill>
            <a:srgbClr val="F1F8FA"/>
          </a:solidFill>
          <a:ln>
            <a:solidFill>
              <a:srgbClr val="1B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1538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B4F"/>
                </a:solidFill>
                <a:latin typeface="Aptos"/>
              </a:defRPr>
            </a:pPr>
            <a:r>
              <a:t>Arsenic (As)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153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A7B8"/>
                </a:solidFill>
                <a:latin typeface="Aptos"/>
              </a:defRPr>
            </a:pPr>
            <a:r>
              <a:t>0.01 mg/L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B76"/>
                </a:solidFill>
                <a:latin typeface="Aptos"/>
              </a:defRPr>
            </a:pPr>
            <a:r>
              <a:t>Note: guideline values must be verified for the local regulation and water-use purpose.</a:t>
            </a:r>
          </a:p>
        </p:txBody>
      </p:sp>
      <p:pic>
        <p:nvPicPr>
          <p:cNvPr id="22" name="Picture 21" descr="intro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709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Model Output: Tuned XGBoost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Test-set performance</a:t>
            </a:r>
          </a:p>
        </p:txBody>
      </p:sp>
      <p:pic>
        <p:nvPicPr>
          <p:cNvPr id="6" name="Picture 5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34440"/>
            <a:ext cx="640080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50876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ROC-AUC: 98.29%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Accuracy: 96.81%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Precision: 95.80%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The model distinguishes safe and not-safe samples strongly. Recall should be monitored because safe samples are the minority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Output: Deployed App 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Simple interface for sample screening</a:t>
            </a:r>
          </a:p>
        </p:txBody>
      </p:sp>
      <p:pic>
        <p:nvPicPr>
          <p:cNvPr id="6" name="Picture 5" descr="ap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66928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User enters measured water parameters</a:t>
            </a:r>
          </a:p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System calculates a safety probability score</a:t>
            </a:r>
          </a:p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Safe / Not Safe verdict appears instantly</a:t>
            </a:r>
          </a:p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Critical values can be highlighted for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E6387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B76"/>
                </a:solidFill>
                <a:latin typeface="Aptos"/>
              </a:defRPr>
            </a:pPr>
            <a:r>
              <a:t>HydroShield can support fast water-quality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Tuned XGBoost achieved a high ROC-AUC of 98.29%</a:t>
            </a:r>
          </a:p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The system combines 20 contaminant indicators for prediction</a:t>
            </a:r>
          </a:p>
          <a:p>
            <a:pPr>
              <a:spcAft>
                <a:spcPts val="1300"/>
              </a:spcAft>
              <a:defRPr sz="1600">
                <a:solidFill>
                  <a:srgbClr val="143B4F"/>
                </a:solidFill>
              </a:defRPr>
            </a:pPr>
            <a:r>
              <a:t>• Use the model as a screening aid, not a replacement for laboratory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A7B8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Integrate real-time IoT sensor data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Use local, expert-validated water data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Predict contamination sources and biological threats</a:t>
            </a:r>
          </a:p>
          <a:p>
            <a:pPr>
              <a:spcAft>
                <a:spcPts val="1300"/>
              </a:spcAft>
              <a:defRPr sz="1500">
                <a:solidFill>
                  <a:srgbClr val="143B4F"/>
                </a:solidFill>
              </a:defRPr>
            </a:pPr>
            <a:r>
              <a:t>• Create a monitored web application with human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6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E638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BA7B8"/>
                </a:solidFill>
                <a:latin typeface="Aptos"/>
              </a:defRPr>
            </a:pPr>
            <a:r>
              <a:t>Questions and discussion</a:t>
            </a:r>
          </a:p>
        </p:txBody>
      </p:sp>
      <p:pic>
        <p:nvPicPr>
          <p:cNvPr id="6" name="Picture 5" descr="intro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25880"/>
            <a:ext cx="420624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26B76"/>
                </a:solidFill>
                <a:latin typeface="Aptos"/>
              </a:defRPr>
            </a:pPr>
            <a:r>
              <a:t>Manish Purohit</a:t>
            </a:r>
            <a:br/>
            <a:r>
              <a:t>Guided by Ritik Raj Vaishya Sir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HydroShield Water Quality Presentation</dc:title>
  <dc:subject/>
  <dc:creator>Manish Purohit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